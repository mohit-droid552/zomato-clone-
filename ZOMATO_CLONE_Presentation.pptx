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illustration_1786712985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493776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548640"/>
            <a:ext cx="603504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23744"/>
                </a:solidFill>
                <a:latin typeface="Trebuchet MS"/>
              </a:defRPr>
            </a:pPr>
            <a:r>
              <a:t>ZOMATO CLONE</a:t>
            </a:r>
          </a:p>
          <a:p>
            <a:pPr>
              <a:spcAft>
                <a:spcPts val="100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A MERN Stack Web Application for Managing and Ordering Food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Student Names: Mohit Sharma</a:t>
            </a:r>
            <a:br/>
            <a:r>
              <a:t>Mentor Name: Mentor Aryaman</a:t>
            </a:r>
            <a:br/>
            <a:r>
              <a:t>Team Name: (MERN Interns)</a:t>
            </a:r>
          </a:p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— Technology: MongoDB · Express.js · React.js · Node.js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Zomato Clone simplifies online food ordering by discovering 50 authentic Indian restaurants across 10 cities, calculating spatial proximity distances, and managing single-kitchen checkouts.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3931920"/>
            <a:ext cx="6035040" cy="5486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393192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MongoDB: </a:t>
            </a:r>
            <a:r>
              <a:rPr sz="1100">
                <a:solidFill>
                  <a:srgbClr val="FFFFFF"/>
                </a:solidFill>
                <a:latin typeface="Calibri"/>
              </a:rPr>
              <a:t>Stores users, restaurants, food items, and order transactions.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4572000"/>
            <a:ext cx="6035040" cy="5486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45720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Express.js: </a:t>
            </a:r>
            <a:r>
              <a:rPr sz="1100">
                <a:solidFill>
                  <a:srgbClr val="FFFFFF"/>
                </a:solidFill>
                <a:latin typeface="Calibri"/>
              </a:rPr>
              <a:t>API routing, JWT validation, and business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5212079"/>
            <a:ext cx="6035040" cy="5486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5212079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React.js: </a:t>
            </a:r>
            <a:r>
              <a:rPr sz="1100">
                <a:solidFill>
                  <a:srgbClr val="FFFFFF"/>
                </a:solidFill>
                <a:latin typeface="Calibri"/>
              </a:rPr>
              <a:t>Component-driven UI and Redux state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5852159"/>
            <a:ext cx="6035040" cy="5486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5852159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Node.js: </a:t>
            </a:r>
            <a:r>
              <a:rPr sz="1100">
                <a:solidFill>
                  <a:srgbClr val="FFFFFF"/>
                </a:solidFill>
                <a:latin typeface="Calibri"/>
              </a:rPr>
              <a:t>Server runtime for backend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23744"/>
                </a:solidFill>
                <a:latin typeface="Trebuchet MS"/>
              </a:defRPr>
            </a:pPr>
            <a:r>
              <a:t>WHY ZOMATO CLONE?</a:t>
            </a:r>
          </a:p>
        </p:txBody>
      </p:sp>
      <p:pic>
        <p:nvPicPr>
          <p:cNvPr id="3" name="Picture 2" descr="paper_receipts_desk_1786713173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754880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60720" y="1188720"/>
            <a:ext cx="5669280" cy="7772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2344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Manual ordering causes confusion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Receipts, calculators, and static menus are error-prone and slow.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103120"/>
            <a:ext cx="5669280" cy="7772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21488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Lack of spatial proximity sorting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Static listings lead to delivery delays and distance disputes.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017520"/>
            <a:ext cx="5669280" cy="7772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3063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Need for a centralized system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One MERN-based application to browse, filter, and order improves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931920"/>
            <a:ext cx="5669280" cy="7772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9776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Learning opportunity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Apply full-stack MERN concepts to a practical, user-focused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5212080" cy="118872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3744"/>
                </a:solidFill>
                <a:latin typeface="Calibri"/>
              </a:defRPr>
            </a:pPr>
            <a:r>
              <a:t>Comparison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MANUAL: Paper Menus → Phone Calls → Manual Tracking → Confusion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120640"/>
            <a:ext cx="5212080" cy="118872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166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With Zomato Clone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ZOMATO CLONE: Detect GPS → Sort Proximity → Filter Cuisines → Track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23744"/>
                </a:solidFill>
                <a:latin typeface="Trebuchet MS"/>
              </a:defRPr>
            </a:pPr>
            <a:r>
              <a:t>TECHNOLOGY STACK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Visual overview of core technologies and responsibilities in the application.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572000" cy="86868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React.js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Interactive UI, reusable components, client-side state (Redux Toolkit/Vite).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4572000" cy="86868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Node.js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Server environment for Express APIs and background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4572000" cy="86868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Express.js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REST endpoints, validation, and authentication hooks.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4572000" cy="86868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MongoDB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Flexible document storage for restaurants, food items, users, and orders.</a:t>
            </a:r>
          </a:p>
        </p:txBody>
      </p:sp>
      <p:pic>
        <p:nvPicPr>
          <p:cNvPr id="11" name="Picture 10" descr="mern_arch_flowchart_17867132394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Additional: HTML5 · CSS3 · JavaScript · REST APIs · Axios · JWT · Mongoose ODM · Tailwind 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23744"/>
                </a:solidFill>
                <a:latin typeface="Trebuchet MS"/>
              </a:defRPr>
            </a:pPr>
            <a:r>
              <a:t>DEVELOPMENT CHALLENGES &amp; SOLUTIONS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Concise Problem → Solution mapping encountered during development.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01 Problem 1: Mongoose buffering timeout on serverless cold starts</a:t>
            </a:r>
          </a:p>
          <a:p>
            <a:pPr>
              <a:spcAft>
                <a:spcPts val="20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02 Problem 2: Cross-Origin Resource Sharing (CORS) preflight blocks</a:t>
            </a:r>
          </a:p>
          <a:p>
            <a:pPr>
              <a:spcAft>
                <a:spcPts val="20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03 Problem 3: Multi-restaurant cart checkout conflicts &amp; routing errors</a:t>
            </a:r>
          </a:p>
          <a:p>
            <a:pPr>
              <a:spcAft>
                <a:spcPts val="20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04 Problem 4: External image loading flickers &amp; fallback handling</a:t>
            </a:r>
          </a:p>
          <a:p>
            <a:pPr>
              <a:spcAft>
                <a:spcPts val="20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05 Problem 5: Expired JWT tokens failing silently without redirection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280160"/>
            <a:ext cx="5394960" cy="804672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72200" y="131673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Solution 1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Disabled bufferCommands, set 5s timeout, and added fallback mock dataset in controllers.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5394960" cy="804672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223113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Solution 2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Configured explicit Express cors middleware with allowed Vercel frontend origins.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108960"/>
            <a:ext cx="5394960" cy="804672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314553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Solution 3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Engineered single-kitchen cart guard clearing items when switching kitchens.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023360"/>
            <a:ext cx="5394960" cy="804672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405993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Solution 4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Implemented onError fallbacks and smooth blur-to-focus load transitions.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937760"/>
            <a:ext cx="5394960" cy="804672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974336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Calibri"/>
              </a:defRPr>
            </a:pPr>
            <a:r>
              <a:t>Solution 5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Added Axios response interceptors clearing invalid tokens and redirecting to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23744"/>
                </a:solidFill>
                <a:latin typeface="Trebuchet MS"/>
              </a:defRPr>
            </a:pPr>
            <a:r>
              <a:t>DEPLOYMENT &amp; APPLICATION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23744"/>
                </a:solidFill>
                <a:latin typeface="Calibri"/>
              </a:defRPr>
            </a:pPr>
            <a:r>
              <a:t>Deployment Configuration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Frontend: VERCEL (https://zomato-clone-frontend.vercel.app)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Backend: VERCEL (https://zomato-clone-backend-psi.vercel.app)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Database: MongoDB Atlas Cloud Cluster</a:t>
            </a:r>
          </a:p>
          <a:p>
            <a:pPr>
              <a:defRPr sz="1000" i="1">
                <a:solidFill>
                  <a:srgbClr val="CBD5E1"/>
                </a:solidFill>
                <a:latin typeface="Calibri"/>
              </a:defRPr>
            </a:pPr>
            <a:r>
              <a:t>Caption: Decoupled serverless architecture enables independent scalability.</a:t>
            </a:r>
          </a:p>
        </p:txBody>
      </p:sp>
      <p:pic>
        <p:nvPicPr>
          <p:cNvPr id="5" name="Picture 4" descr="cloud_deployment_stack_17867132776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2743200"/>
          </a:xfrm>
          <a:prstGeom prst="rect">
            <a:avLst/>
          </a:prstGeom>
        </p:spPr>
      </p:pic>
      <p:pic>
        <p:nvPicPr>
          <p:cNvPr id="6" name="Picture 5" descr="zomato_app_ui_mockup_17867133076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438912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4114800"/>
            <a:ext cx="6126480" cy="237744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416052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23744"/>
                </a:solidFill>
                <a:latin typeface="Calibri"/>
              </a:defRPr>
            </a:pPr>
            <a:r>
              <a:t>Screenshots of Live Web Application: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Screenshot 1: User's Login Page &amp; JWT Auth Interface.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Screenshot 2: Restaurant Discovery &amp; Spatial Proximity Dashboard.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Screenshot 3: Categorized Menu &amp; Promotional Badges (Bestseller, Chef Special).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Screenshot 4: Single-Kitchen Shopping Cart &amp; Checkout Interface.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Screenshot 5: Order Confirmation &amp; Live Delivery Status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23744"/>
                </a:solidFill>
                <a:latin typeface="Trebuchet MS"/>
              </a:defRPr>
            </a:pPr>
            <a:r>
              <a:t>DEMO, KEY LEARNINGS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256032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Project Demo (walkthrough)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1. Login / Create account with JWT authentication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2. Location &amp; GPS — Detect coordinates &amp; sort nearby kitchens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3. Filter Cuisines — Select North Indian, South Indian, Fast Food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4. Inspect Menu — View Bestseller &amp; Chef Special dish badges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5. Cart &amp; Checkout — Review bill and place single-kitchen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5303520" cy="256032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Key Learnings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Practical understanding of MERN architecture and data flow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Designing reusable React components &amp; Redux state strategies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Building secure, testable REST APIs with Express &amp; JWT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Schema design and indexing in MongoDB Atlas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Debugging serverless cold starts &amp; handling DB fallback edge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737360"/>
          </a:xfrm>
          <a:prstGeom prst="roundRect">
            <a:avLst/>
          </a:prstGeom>
          <a:solidFill>
            <a:srgbClr val="1A173B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23744"/>
                </a:solidFill>
                <a:latin typeface="Calibri"/>
              </a:defRPr>
            </a:pPr>
            <a:r>
              <a:t>Future Improvements</a:t>
            </a:r>
          </a:p>
          <a:p>
            <a:pPr>
              <a:defRPr sz="1100" b="1">
                <a:solidFill>
                  <a:srgbClr val="A78BFA"/>
                </a:solidFill>
                <a:latin typeface="Calibri"/>
              </a:defRPr>
            </a:pPr>
            <a:r>
              <a:t>• Mobile App: </a:t>
            </a:r>
            <a:r>
              <a:rPr sz="1050">
                <a:solidFill>
                  <a:srgbClr val="FFFFFF"/>
                </a:solidFill>
                <a:latin typeface="Calibri"/>
              </a:rPr>
              <a:t>Develop companion React Native app with offline sync for mobile-first users.</a:t>
            </a:r>
          </a:p>
          <a:p>
            <a:pPr>
              <a:defRPr sz="1100" b="1">
                <a:solidFill>
                  <a:srgbClr val="A78BFA"/>
                </a:solidFill>
                <a:latin typeface="Calibri"/>
              </a:defRPr>
            </a:pPr>
            <a:r>
              <a:t>• Notifications: </a:t>
            </a:r>
            <a:r>
              <a:rPr sz="1050">
                <a:solidFill>
                  <a:srgbClr val="FFFFFF"/>
                </a:solidFill>
                <a:latin typeface="Calibri"/>
              </a:rPr>
              <a:t>Integrate Nodemailer &amp; WebSockets for live order status and promo alerts.</a:t>
            </a:r>
          </a:p>
          <a:p>
            <a:pPr>
              <a:defRPr sz="1100" b="1">
                <a:solidFill>
                  <a:srgbClr val="A78BFA"/>
                </a:solidFill>
                <a:latin typeface="Calibri"/>
              </a:defRPr>
            </a:pPr>
            <a:r>
              <a:t>• Payments: </a:t>
            </a:r>
            <a:r>
              <a:rPr sz="1050">
                <a:solidFill>
                  <a:srgbClr val="FFFFFF"/>
                </a:solidFill>
                <a:latin typeface="Calibri"/>
              </a:rPr>
              <a:t>Integrate Razorpay / Stripe payment gateways for direct online checkout.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23744"/>
                </a:solidFill>
                <a:latin typeface="Trebuchet M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